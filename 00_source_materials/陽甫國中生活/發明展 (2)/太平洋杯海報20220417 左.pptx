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625" cx="233997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7" roundtripDataSignature="AMtx7mgvvti41IuaDuG5rkvr/MlGRt7b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3D10A7-8F0F-4D8D-BDB1-B82523592654}">
  <a:tblStyle styleId="{193D10A7-8F0F-4D8D-BDB1-B8252359265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593975" y="1143000"/>
            <a:ext cx="167005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2593975" y="1143000"/>
            <a:ext cx="167005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754981" y="7070108"/>
            <a:ext cx="19889788" cy="150402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54"/>
              <a:buFont typeface="Calibri"/>
              <a:buNone/>
              <a:defRPr sz="1535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2924969" y="22690338"/>
            <a:ext cx="17549813" cy="10430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6142"/>
              <a:buNone/>
              <a:defRPr sz="6142"/>
            </a:lvl1pPr>
            <a:lvl2pPr lvl="1" algn="ctr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5118"/>
              <a:buNone/>
              <a:defRPr sz="5118"/>
            </a:lvl2pPr>
            <a:lvl3pPr lvl="2" algn="ctr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606"/>
              <a:buNone/>
              <a:defRPr sz="4606"/>
            </a:lvl3pPr>
            <a:lvl4pPr lvl="3" algn="ctr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sz="4093"/>
            </a:lvl4pPr>
            <a:lvl5pPr lvl="4" algn="ctr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sz="4093"/>
            </a:lvl5pPr>
            <a:lvl6pPr lvl="5" algn="ctr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sz="4093"/>
            </a:lvl6pPr>
            <a:lvl7pPr lvl="6" algn="ctr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sz="4093"/>
            </a:lvl7pPr>
            <a:lvl8pPr lvl="7" algn="ctr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sz="4093"/>
            </a:lvl8pPr>
            <a:lvl9pPr lvl="8" algn="ctr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sz="4093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1608733" y="2300044"/>
            <a:ext cx="20182284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1608733" y="11500170"/>
            <a:ext cx="20182284" cy="27410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1596547" y="10770172"/>
            <a:ext cx="20182284" cy="17970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54"/>
              <a:buFont typeface="Calibri"/>
              <a:buNone/>
              <a:defRPr sz="1535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1596547" y="28910440"/>
            <a:ext cx="20182284" cy="9450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6142"/>
              <a:buNone/>
              <a:defRPr sz="6142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rgbClr val="888888"/>
              </a:buClr>
              <a:buSzPts val="5118"/>
              <a:buNone/>
              <a:defRPr sz="5118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rgbClr val="888888"/>
              </a:buClr>
              <a:buSzPts val="4606"/>
              <a:buNone/>
              <a:defRPr sz="4606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rgbClr val="888888"/>
              </a:buClr>
              <a:buSzPts val="4094"/>
              <a:buNone/>
              <a:defRPr sz="4093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rgbClr val="888888"/>
              </a:buClr>
              <a:buSzPts val="4094"/>
              <a:buNone/>
              <a:defRPr sz="4093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rgbClr val="888888"/>
              </a:buClr>
              <a:buSzPts val="4094"/>
              <a:buNone/>
              <a:defRPr sz="4093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rgbClr val="888888"/>
              </a:buClr>
              <a:buSzPts val="4094"/>
              <a:buNone/>
              <a:defRPr sz="4093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rgbClr val="888888"/>
              </a:buClr>
              <a:buSzPts val="4094"/>
              <a:buNone/>
              <a:defRPr sz="4093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rgbClr val="888888"/>
              </a:buClr>
              <a:buSzPts val="4094"/>
              <a:buNone/>
              <a:defRPr sz="409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1608733" y="2300044"/>
            <a:ext cx="20182284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1608733" y="11500170"/>
            <a:ext cx="9944894" cy="27410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11846123" y="11500170"/>
            <a:ext cx="9944894" cy="27410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1611781" y="2300044"/>
            <a:ext cx="20182284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1611783" y="10590160"/>
            <a:ext cx="9899190" cy="51900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6142"/>
              <a:buNone/>
              <a:defRPr b="1" sz="6142"/>
            </a:lvl1pPr>
            <a:lvl2pPr indent="-2286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5118"/>
              <a:buNone/>
              <a:defRPr b="1" sz="5118"/>
            </a:lvl2pPr>
            <a:lvl3pPr indent="-2286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606"/>
              <a:buNone/>
              <a:defRPr b="1" sz="4606"/>
            </a:lvl3pPr>
            <a:lvl4pPr indent="-2286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4pPr>
            <a:lvl5pPr indent="-2286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5pPr>
            <a:lvl6pPr indent="-2286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6pPr>
            <a:lvl7pPr indent="-2286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7pPr>
            <a:lvl8pPr indent="-2286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8pPr>
            <a:lvl9pPr indent="-2286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1611783" y="15780233"/>
            <a:ext cx="9899190" cy="23210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11846124" y="10590160"/>
            <a:ext cx="9947942" cy="51900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6142"/>
              <a:buNone/>
              <a:defRPr b="1" sz="6142"/>
            </a:lvl1pPr>
            <a:lvl2pPr indent="-2286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5118"/>
              <a:buNone/>
              <a:defRPr b="1" sz="5118"/>
            </a:lvl2pPr>
            <a:lvl3pPr indent="-2286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606"/>
              <a:buNone/>
              <a:defRPr b="1" sz="4606"/>
            </a:lvl3pPr>
            <a:lvl4pPr indent="-2286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4pPr>
            <a:lvl5pPr indent="-2286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5pPr>
            <a:lvl6pPr indent="-2286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6pPr>
            <a:lvl7pPr indent="-2286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7pPr>
            <a:lvl8pPr indent="-2286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8pPr>
            <a:lvl9pPr indent="-2286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b="1" sz="4093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11846124" y="15780233"/>
            <a:ext cx="9947942" cy="23210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1608733" y="2300044"/>
            <a:ext cx="20182284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1611781" y="2880042"/>
            <a:ext cx="7547028" cy="100801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89"/>
              <a:buFont typeface="Calibri"/>
              <a:buNone/>
              <a:defRPr sz="818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9947942" y="6220102"/>
            <a:ext cx="11846123" cy="30700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748601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8189"/>
              <a:buChar char="•"/>
              <a:defRPr sz="8189"/>
            </a:lvl1pPr>
            <a:lvl2pPr indent="-683577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7165"/>
              <a:buChar char="•"/>
              <a:defRPr sz="7165"/>
            </a:lvl2pPr>
            <a:lvl3pPr indent="-618617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142"/>
              <a:buChar char="•"/>
              <a:defRPr sz="6142"/>
            </a:lvl3pPr>
            <a:lvl4pPr indent="-553592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5118"/>
              <a:buChar char="•"/>
              <a:defRPr sz="5118"/>
            </a:lvl4pPr>
            <a:lvl5pPr indent="-553592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5118"/>
              <a:buChar char="•"/>
              <a:defRPr sz="5118"/>
            </a:lvl5pPr>
            <a:lvl6pPr indent="-553592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5118"/>
              <a:buChar char="•"/>
              <a:defRPr sz="5118"/>
            </a:lvl6pPr>
            <a:lvl7pPr indent="-553592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5118"/>
              <a:buChar char="•"/>
              <a:defRPr sz="5118"/>
            </a:lvl7pPr>
            <a:lvl8pPr indent="-553592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5118"/>
              <a:buChar char="•"/>
              <a:defRPr sz="5118"/>
            </a:lvl8pPr>
            <a:lvl9pPr indent="-553592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5118"/>
              <a:buChar char="•"/>
              <a:defRPr sz="5118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1611781" y="12960191"/>
            <a:ext cx="7547028" cy="24010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sz="4093"/>
            </a:lvl1pPr>
            <a:lvl2pPr indent="-2286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583"/>
              <a:buNone/>
              <a:defRPr sz="3583"/>
            </a:lvl2pPr>
            <a:lvl3pPr indent="-2286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071"/>
              <a:buNone/>
              <a:defRPr sz="3071"/>
            </a:lvl3pPr>
            <a:lvl4pPr indent="-2286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4pPr>
            <a:lvl5pPr indent="-2286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5pPr>
            <a:lvl6pPr indent="-2286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6pPr>
            <a:lvl7pPr indent="-2286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7pPr>
            <a:lvl8pPr indent="-2286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8pPr>
            <a:lvl9pPr indent="-2286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1611781" y="2880042"/>
            <a:ext cx="7547028" cy="100801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89"/>
              <a:buFont typeface="Calibri"/>
              <a:buNone/>
              <a:defRPr sz="818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9947942" y="6220102"/>
            <a:ext cx="11846123" cy="30700453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1611781" y="12960191"/>
            <a:ext cx="7547028" cy="24010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4094"/>
              <a:buNone/>
              <a:defRPr sz="4093"/>
            </a:lvl1pPr>
            <a:lvl2pPr indent="-2286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583"/>
              <a:buNone/>
              <a:defRPr sz="3583"/>
            </a:lvl2pPr>
            <a:lvl3pPr indent="-2286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071"/>
              <a:buNone/>
              <a:defRPr sz="3071"/>
            </a:lvl3pPr>
            <a:lvl4pPr indent="-2286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4pPr>
            <a:lvl5pPr indent="-2286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5pPr>
            <a:lvl6pPr indent="-2286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6pPr>
            <a:lvl7pPr indent="-2286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7pPr>
            <a:lvl8pPr indent="-2286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8pPr>
            <a:lvl9pPr indent="-2286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559"/>
              <a:buNone/>
              <a:defRPr sz="2559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1608733" y="2300044"/>
            <a:ext cx="20182284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-2005329" y="15114232"/>
            <a:ext cx="27410408" cy="20182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962960" y="18082521"/>
            <a:ext cx="36610544" cy="5045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9274430" y="13183198"/>
            <a:ext cx="36610544" cy="14844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608733" y="2300044"/>
            <a:ext cx="20182284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60"/>
              <a:buFont typeface="Calibri"/>
              <a:buNone/>
              <a:defRPr b="0" i="0" sz="112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1608733" y="11500170"/>
            <a:ext cx="20182284" cy="27410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83577" lvl="0" marL="457200" marR="0" rtl="0" algn="l">
              <a:lnSpc>
                <a:spcPct val="90000"/>
              </a:lnSpc>
              <a:spcBef>
                <a:spcPts val="2559"/>
              </a:spcBef>
              <a:spcAft>
                <a:spcPts val="0"/>
              </a:spcAft>
              <a:buClr>
                <a:schemeClr val="dk1"/>
              </a:buClr>
              <a:buSzPts val="7165"/>
              <a:buFont typeface="Arial"/>
              <a:buChar char="•"/>
              <a:defRPr b="0" i="0" sz="71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618617" lvl="1" marL="914400" marR="0" rtl="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142"/>
              <a:buFont typeface="Arial"/>
              <a:buChar char="•"/>
              <a:defRPr b="0" i="0" sz="614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53592" lvl="2" marL="1371600" marR="0" rtl="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5118"/>
              <a:buFont typeface="Arial"/>
              <a:buChar char="•"/>
              <a:defRPr b="0" i="0" sz="51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521081" lvl="3" marL="1828800" marR="0" rtl="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606"/>
              <a:buFont typeface="Arial"/>
              <a:buChar char="•"/>
              <a:defRPr b="0" i="0" sz="460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21081" lvl="4" marL="2286000" marR="0" rtl="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606"/>
              <a:buFont typeface="Arial"/>
              <a:buChar char="•"/>
              <a:defRPr b="0" i="0" sz="460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21081" lvl="5" marL="2743200" marR="0" rtl="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606"/>
              <a:buFont typeface="Arial"/>
              <a:buChar char="•"/>
              <a:defRPr b="0" i="0" sz="460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21081" lvl="6" marL="3200400" marR="0" rtl="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606"/>
              <a:buFont typeface="Arial"/>
              <a:buChar char="•"/>
              <a:defRPr b="0" i="0" sz="460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21081" lvl="7" marL="3657600" marR="0" rtl="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606"/>
              <a:buFont typeface="Arial"/>
              <a:buChar char="•"/>
              <a:defRPr b="0" i="0" sz="460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21081" lvl="8" marL="4114800" marR="0" rtl="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4606"/>
              <a:buFont typeface="Arial"/>
              <a:buChar char="•"/>
              <a:defRPr b="0" i="0" sz="460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160873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7751167" y="40040601"/>
            <a:ext cx="7897416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6526073" y="40040601"/>
            <a:ext cx="5264944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30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30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30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30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30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30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30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30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307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jpg"/><Relationship Id="rId10" Type="http://schemas.openxmlformats.org/officeDocument/2006/relationships/image" Target="../media/image8.jpg"/><Relationship Id="rId13" Type="http://schemas.openxmlformats.org/officeDocument/2006/relationships/image" Target="../media/image10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hyperlink" Target="http://zidian.odict.net/zh-tw/857121665/" TargetMode="External"/><Relationship Id="rId9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jpg"/><Relationship Id="rId7" Type="http://schemas.openxmlformats.org/officeDocument/2006/relationships/image" Target="../media/image5.jp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71645"/>
          <a:stretch/>
        </p:blipFill>
        <p:spPr>
          <a:xfrm rot="5400000">
            <a:off x="-9903145" y="9970344"/>
            <a:ext cx="43200636" cy="233997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92927" y="5493165"/>
            <a:ext cx="21808500" cy="87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8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我的外婆是位中風的病人，平日喜歡坐在陽台的輪椅上曬日光浴、欣賞外面的人和風景，但有時她會覺得太陽太大，想要遮陽;有時也會被突如其來的大雨搞得措手不及，我們只好辛苦的努力轉動把手讓遮雨棚打開無奈已經來不及了。因此我們設計了多功能自動遮雨棚來避免這種事情發生。</a:t>
            </a:r>
            <a:endParaRPr sz="8000"/>
          </a:p>
        </p:txBody>
      </p:sp>
      <p:sp>
        <p:nvSpPr>
          <p:cNvPr id="91" name="Google Shape;91;p1"/>
          <p:cNvSpPr/>
          <p:nvPr/>
        </p:nvSpPr>
        <p:spPr>
          <a:xfrm>
            <a:off x="7365226" y="15042675"/>
            <a:ext cx="7369200" cy="255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9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作品材料</a:t>
            </a:r>
            <a:endParaRPr sz="9600"/>
          </a:p>
        </p:txBody>
      </p:sp>
      <p:sp>
        <p:nvSpPr>
          <p:cNvPr id="92" name="Google Shape;92;p1"/>
          <p:cNvSpPr/>
          <p:nvPr/>
        </p:nvSpPr>
        <p:spPr>
          <a:xfrm>
            <a:off x="7365227" y="2536472"/>
            <a:ext cx="6750300" cy="2119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9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研究動機</a:t>
            </a:r>
            <a:endParaRPr sz="9600"/>
          </a:p>
        </p:txBody>
      </p:sp>
      <p:graphicFrame>
        <p:nvGraphicFramePr>
          <p:cNvPr id="93" name="Google Shape;93;p1"/>
          <p:cNvGraphicFramePr/>
          <p:nvPr/>
        </p:nvGraphicFramePr>
        <p:xfrm>
          <a:off x="153483" y="181866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{193D10A7-8F0F-4D8D-BDB1-B82523592654}</a:tableStyleId>
              </a:tblPr>
              <a:tblGrid>
                <a:gridCol w="4547750"/>
                <a:gridCol w="4645850"/>
                <a:gridCol w="4705575"/>
                <a:gridCol w="4705575"/>
                <a:gridCol w="4239400"/>
              </a:tblGrid>
              <a:tr h="473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7200">
                          <a:solidFill>
                            <a:schemeClr val="dk1"/>
                          </a:solidFill>
                        </a:rPr>
                        <a:t>材料名稱</a:t>
                      </a:r>
                      <a:endParaRPr sz="7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800"/>
                        <a:buFont typeface="Calibri"/>
                        <a:buNone/>
                      </a:pPr>
                      <a:r>
                        <a:t/>
                      </a:r>
                      <a:endParaRPr b="1" sz="7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zh-TW" sz="7200">
                          <a:solidFill>
                            <a:schemeClr val="dk1"/>
                          </a:solidFill>
                        </a:rPr>
                        <a:t>Arduino UNO</a:t>
                      </a:r>
                      <a:endParaRPr sz="7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606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800"/>
                        <a:buFont typeface="Microsoft JhengHei"/>
                        <a:buNone/>
                      </a:pPr>
                      <a:r>
                        <a:rPr lang="zh-TW" sz="7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伺服馬達</a:t>
                      </a:r>
                      <a:endParaRPr sz="7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606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800"/>
                        <a:buFont typeface="Calibri"/>
                        <a:buNone/>
                      </a:pPr>
                      <a:r>
                        <a:t/>
                      </a:r>
                      <a:endParaRPr b="1" sz="7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zh-TW" sz="7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雨滴感測器</a:t>
                      </a:r>
                      <a:endParaRPr sz="7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606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7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水</a:t>
                      </a:r>
                      <a:r>
                        <a:rPr lang="zh-TW" sz="72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Arial"/>
                          <a:ea typeface="Arial"/>
                          <a:cs typeface="Arial"/>
                          <a:sym typeface="Arial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泵</a:t>
                      </a:r>
                      <a:endParaRPr sz="7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/>
                </a:tc>
              </a:tr>
              <a:tr h="448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7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7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材料照片</a:t>
                      </a:r>
                      <a:endParaRPr b="1" sz="7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606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606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606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606"/>
                    </a:p>
                  </a:txBody>
                  <a:tcPr marT="45725" marB="45725" marR="91450" marL="91450"/>
                </a:tc>
              </a:tr>
              <a:tr h="561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800"/>
                        <a:buFont typeface="Calibri"/>
                        <a:buNone/>
                      </a:pPr>
                      <a:r>
                        <a:t/>
                      </a:r>
                      <a:endParaRPr b="1" sz="7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800"/>
                        <a:buFont typeface="Microsoft JhengHei"/>
                        <a:buNone/>
                      </a:pPr>
                      <a:r>
                        <a:rPr b="1" lang="zh-TW" sz="7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溫溼度感測器</a:t>
                      </a:r>
                      <a:endParaRPr b="1" sz="7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800"/>
                        <a:buFont typeface="Calibri"/>
                        <a:buNone/>
                      </a:pPr>
                      <a:r>
                        <a:t/>
                      </a:r>
                      <a:endParaRPr b="1" sz="7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4800"/>
                        <a:buNone/>
                      </a:pPr>
                      <a:r>
                        <a:rPr b="1" lang="zh-TW" sz="7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超音波距離感測器</a:t>
                      </a:r>
                      <a:endParaRPr b="1" sz="7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800"/>
                        <a:buFont typeface="Microsoft JhengHei"/>
                        <a:buNone/>
                      </a:pPr>
                      <a:r>
                        <a:t/>
                      </a:r>
                      <a:endParaRPr b="1" sz="7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606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800"/>
                        <a:buFont typeface="Calibri"/>
                        <a:buNone/>
                      </a:pPr>
                      <a:r>
                        <a:t/>
                      </a:r>
                      <a:endParaRPr b="1" sz="7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800"/>
                        <a:buFont typeface="Arial"/>
                        <a:buNone/>
                      </a:pPr>
                      <a:r>
                        <a:rPr b="1" lang="zh-TW" sz="7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LED燈條</a:t>
                      </a:r>
                      <a:endParaRPr sz="7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4800"/>
                        <a:buNone/>
                      </a:pPr>
                      <a:r>
                        <a:t/>
                      </a:r>
                      <a:endParaRPr sz="4606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800"/>
                        <a:buFont typeface="Arial"/>
                        <a:buNone/>
                      </a:pPr>
                      <a:r>
                        <a:t/>
                      </a:r>
                      <a:endParaRPr b="1" sz="7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800"/>
                        <a:buFont typeface="Arial"/>
                        <a:buNone/>
                      </a:pPr>
                      <a:r>
                        <a:rPr b="1" lang="zh-TW" sz="7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光敏電阻</a:t>
                      </a:r>
                      <a:endParaRPr b="1" sz="7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606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7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7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繼電器</a:t>
                      </a:r>
                      <a:endParaRPr b="1" sz="7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45725" marB="45725" marR="91450" marL="91450"/>
                </a:tc>
              </a:tr>
              <a:tr h="448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606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606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606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606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606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94" name="Google Shape;94;p1"/>
          <p:cNvPicPr preferRelativeResize="0"/>
          <p:nvPr/>
        </p:nvPicPr>
        <p:blipFill rotWithShape="1">
          <a:blip r:embed="rId5">
            <a:alphaModFix/>
          </a:blip>
          <a:srcRect b="26911" l="24218" r="26986" t="24493"/>
          <a:stretch/>
        </p:blipFill>
        <p:spPr>
          <a:xfrm>
            <a:off x="4720575" y="22961900"/>
            <a:ext cx="4668850" cy="443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大面積雨滴水滴感測模組5.0 X 4.0CM 大感測面積- 台灣智能感測科技" id="95" name="Google Shape;9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977601" y="22961900"/>
            <a:ext cx="4736649" cy="4434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G90伺服馬達– ChosenTech" id="96" name="Google Shape;96;p1"/>
          <p:cNvPicPr preferRelativeResize="0"/>
          <p:nvPr/>
        </p:nvPicPr>
        <p:blipFill rotWithShape="1">
          <a:blip r:embed="rId7">
            <a:alphaModFix/>
          </a:blip>
          <a:srcRect b="0" l="12155" r="20653" t="0"/>
          <a:stretch/>
        </p:blipFill>
        <p:spPr>
          <a:xfrm>
            <a:off x="9352200" y="22961900"/>
            <a:ext cx="4668850" cy="443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樂意創客官方店】《附發票》KEYES光敏電阻感測器模組光線檢測模組適用Arduino、microbit、ESP32 | 蝦皮購物" id="97" name="Google Shape;97;p1"/>
          <p:cNvPicPr preferRelativeResize="0"/>
          <p:nvPr/>
        </p:nvPicPr>
        <p:blipFill rotWithShape="1">
          <a:blip r:embed="rId8">
            <a:alphaModFix/>
          </a:blip>
          <a:srcRect b="0" l="9793" r="0" t="4651"/>
          <a:stretch/>
        </p:blipFill>
        <p:spPr>
          <a:xfrm>
            <a:off x="13929625" y="33044625"/>
            <a:ext cx="4822275" cy="449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9">
            <a:alphaModFix/>
          </a:blip>
          <a:srcRect b="11075" l="8204" r="8279" t="8897"/>
          <a:stretch/>
        </p:blipFill>
        <p:spPr>
          <a:xfrm>
            <a:off x="153475" y="33021000"/>
            <a:ext cx="4604775" cy="449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C-SR04超音波感測器超音波模組超聲波模組3.3-5V Arduino避障測距| 蝦皮購物" id="99" name="Google Shape;99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37775" y="33044615"/>
            <a:ext cx="4822301" cy="44344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ED RGB Strip-Addressable, Sealed(0.5M) (LED 燈條0.5M)-Makeblock  (mbot)-mBot-顯示配件- 產品介紹" id="100" name="Google Shape;100;p1"/>
          <p:cNvPicPr preferRelativeResize="0"/>
          <p:nvPr/>
        </p:nvPicPr>
        <p:blipFill rotWithShape="1">
          <a:blip r:embed="rId11">
            <a:alphaModFix/>
          </a:blip>
          <a:srcRect b="0" l="0" r="6781" t="0"/>
          <a:stretch/>
        </p:blipFill>
        <p:spPr>
          <a:xfrm>
            <a:off x="9260775" y="33021000"/>
            <a:ext cx="4668850" cy="449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8582275" y="22923300"/>
            <a:ext cx="4415351" cy="44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8751900" y="33021000"/>
            <a:ext cx="4245724" cy="4486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2022-04-17T14:11:50Z</dcterms:created>
  <dc:creator>jawei</dc:creator>
</cp:coreProperties>
</file>